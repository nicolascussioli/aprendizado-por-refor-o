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8cae3493d5473d" /><Relationship Type="http://schemas.openxmlformats.org/officeDocument/2006/relationships/extended-properties" Target="/docProps/app.xml" Id="R5cb930b2054b48ae" /><Relationship Type="http://schemas.openxmlformats.org/officeDocument/2006/relationships/officeDocument" Target="/ppt/presentation.xml" Id="R2905d5457c724e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7353c482a54597"/>
  </p:sldMasterIdLst>
  <p:notesMasterIdLst>
    <p:notesMasterId xmlns:r="http://schemas.openxmlformats.org/officeDocument/2006/relationships" r:id="R1520c4dd8ebe45b0"/>
  </p:notesMasterIdLst>
  <p:sldIdLst>
    <p:sldId xmlns:r="http://schemas.openxmlformats.org/officeDocument/2006/relationships" id="256" r:id="Rc63cd5cdd0d84b37"/>
    <p:sldId xmlns:r="http://schemas.openxmlformats.org/officeDocument/2006/relationships" id="257" r:id="R68f487bc30464d17"/>
    <p:sldId xmlns:r="http://schemas.openxmlformats.org/officeDocument/2006/relationships" id="258" r:id="Rd87c555ece3b4b1a"/>
    <p:sldId xmlns:r="http://schemas.openxmlformats.org/officeDocument/2006/relationships" id="259" r:id="Rd83aea550dbe40a5"/>
    <p:sldId xmlns:r="http://schemas.openxmlformats.org/officeDocument/2006/relationships" id="260" r:id="Rc5357edcf5dc484e"/>
    <p:sldId xmlns:r="http://schemas.openxmlformats.org/officeDocument/2006/relationships" id="261" r:id="R61a34e2569934b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de848b9bac4960" /><Relationship Type="http://schemas.openxmlformats.org/officeDocument/2006/relationships/slideMaster" Target="/ppt/slideMasters/slideMaster1.xml" Id="R647353c482a54597" /><Relationship Type="http://schemas.openxmlformats.org/officeDocument/2006/relationships/notesMaster" Target="/ppt/notesMasters/notesMaster1.xml" Id="R1520c4dd8ebe45b0" /><Relationship Type="http://schemas.openxmlformats.org/officeDocument/2006/relationships/presProps" Target="/ppt/presProps.xml" Id="R328e483d865d442d" /><Relationship Type="http://schemas.openxmlformats.org/officeDocument/2006/relationships/viewProps" Target="/ppt/viewProps.xml" Id="Rec2a3f255aac49f3" /><Relationship Type="http://schemas.openxmlformats.org/officeDocument/2006/relationships/tableStyles" Target="/ppt/tableStyles.xml" Id="R2b32750fb6de4ba5" /><Relationship Type="http://schemas.openxmlformats.org/officeDocument/2006/relationships/slide" Target="/ppt/slides/slide1.xml" Id="Rc63cd5cdd0d84b37" /><Relationship Type="http://schemas.openxmlformats.org/officeDocument/2006/relationships/slide" Target="/ppt/slides/slide2.xml" Id="R68f487bc30464d17" /><Relationship Type="http://schemas.openxmlformats.org/officeDocument/2006/relationships/slide" Target="/ppt/slides/slide3.xml" Id="Rd87c555ece3b4b1a" /><Relationship Type="http://schemas.openxmlformats.org/officeDocument/2006/relationships/slide" Target="/ppt/slides/slide4.xml" Id="Rd83aea550dbe40a5" /><Relationship Type="http://schemas.openxmlformats.org/officeDocument/2006/relationships/slide" Target="/ppt/slides/slide5.xml" Id="Rc5357edcf5dc484e" /><Relationship Type="http://schemas.openxmlformats.org/officeDocument/2006/relationships/slide" Target="/ppt/slides/slide6.xml" Id="R61a34e2569934b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058f985b6044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bc025f690f479b" /><Relationship Type="http://schemas.openxmlformats.org/officeDocument/2006/relationships/notesMaster" Target="/ppt/notesMasters/notesMaster1.xml" Id="R0f310265cbca47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dc726f20674569" /><Relationship Type="http://schemas.openxmlformats.org/officeDocument/2006/relationships/notesMaster" Target="/ppt/notesMasters/notesMaster1.xml" Id="Ra568961ec38548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fa9fa2b46b4d57" /><Relationship Type="http://schemas.openxmlformats.org/officeDocument/2006/relationships/notesMaster" Target="/ppt/notesMasters/notesMaster1.xml" Id="Ra179cf0ddc5a46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2c0188dcb0449a" /><Relationship Type="http://schemas.openxmlformats.org/officeDocument/2006/relationships/notesMaster" Target="/ppt/notesMasters/notesMaster1.xml" Id="R6ab166da80d84e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5452ea0cad4d65" /><Relationship Type="http://schemas.openxmlformats.org/officeDocument/2006/relationships/notesMaster" Target="/ppt/notesMasters/notesMaster1.xml" Id="R3fe8f3ca8ff243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5312944ec2d442e" /><Relationship Type="http://schemas.openxmlformats.org/officeDocument/2006/relationships/notesMaster" Target="/ppt/notesMasters/notesMaster1.xml" Id="R9c05f405fb3046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b1fd91e65f4e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deee3deee54261" /><Relationship Type="http://schemas.openxmlformats.org/officeDocument/2006/relationships/slideLayout" Target="/ppt/slideLayouts/slideLayout1.xml" Id="R36e2310bb72246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e2310bb72246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5d8aa23f084901" /><Relationship Type="http://schemas.openxmlformats.org/officeDocument/2006/relationships/notesSlide" Target="/ppt/notesSlides/notesSlide1.xml" Id="R0c3d8acf787843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6beae4c184c66" /><Relationship Type="http://schemas.openxmlformats.org/officeDocument/2006/relationships/image" Target="/ppt/media/image.png" Id="R913eaccde4a84094" /><Relationship Type="http://schemas.openxmlformats.org/officeDocument/2006/relationships/notesSlide" Target="/ppt/notesSlides/notesSlide2.xml" Id="Rf0227cdc57db44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be5ccb108045c0" /><Relationship Type="http://schemas.openxmlformats.org/officeDocument/2006/relationships/notesSlide" Target="/ppt/notesSlides/notesSlide3.xml" Id="Re0566750d9cf44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3ba65e024941db" /><Relationship Type="http://schemas.openxmlformats.org/officeDocument/2006/relationships/notesSlide" Target="/ppt/notesSlides/notesSlide4.xml" Id="Ra9e9854073584e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742f05434f4d57" /><Relationship Type="http://schemas.openxmlformats.org/officeDocument/2006/relationships/chart" Target="/ppt/slides/charts/chart1.xml" Id="R732ea56a3a7741d9" /><Relationship Type="http://schemas.openxmlformats.org/officeDocument/2006/relationships/notesSlide" Target="/ppt/notesSlides/notesSlide5.xml" Id="R598efe6272ea42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60a3ece0004b69" /><Relationship Type="http://schemas.openxmlformats.org/officeDocument/2006/relationships/notesSlide" Target="/ppt/notesSlides/notesSlide6.xml" Id="R21d29aef923547fc" 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v>Retorno médio</c:v>
          </c:tx>
          <c:spPr>
            <a:solidFill xmlns:a="http://schemas.openxmlformats.org/drawingml/2006/main">
              <a:srgbClr val="1E654B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AB594D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DDAB4A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575" b="1">
                    <a:solidFill>
                      <a:srgbClr val="17372F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Aleatória</c:v>
              </c:pt>
              <c:pt idx="1">
                <c:v>DQN</c:v>
              </c:pt>
              <c:pt idx="2">
                <c:v>Heurística</c:v>
              </c:pt>
              <c:pt idx="3">
                <c:v>A2C</c:v>
              </c:pt>
              <c:pt idx="4">
                <c:v>PPO</c:v>
              </c:pt>
            </c:strLit>
          </c:cat>
          <c:val>
            <c:numLit>
              <c:formatCode>General</c:formatCode>
              <c:ptCount val="5"/>
              <c:pt idx="0">
                <c:v>13.58</c:v>
              </c:pt>
              <c:pt idx="1">
                <c:v>54.42</c:v>
              </c:pt>
              <c:pt idx="2">
                <c:v>55.04</c:v>
              </c:pt>
              <c:pt idx="3">
                <c:v>55.14</c:v>
              </c:pt>
              <c:pt idx="4">
                <c:v>55.9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FD7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9615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7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tângulo 3">
            <a:extLst xmlns:a="http://schemas.openxmlformats.org/drawingml/2006/main">
              <a:ext uri="{FF2B5EF4-FFF2-40B4-BE49-F238E27FC236}">
                <a16:creationId xmlns:a16="http://schemas.microsoft.com/office/drawing/2014/main" id="{9C16F97B-AAA7-4B2A-9C10-6234248A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9906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Irrigação inteligente</a:t>
            </a:r>
          </a:p>
          <a:p xmlns:a="http://schemas.openxmlformats.org/drawingml/2006/main">
            <a:pPr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 uma horta virtual</a:t>
            </a:r>
          </a:p>
        </p:txBody>
      </p:sp>
      <p:sp>
        <p:nvSpPr>
          <p:cNvPr id="2" name="Retângulo 1">
            <a:extLst xmlns:a="http://schemas.openxmlformats.org/drawingml/2006/main">
              <a:ext uri="{FF2B5EF4-FFF2-40B4-BE49-F238E27FC236}">
                <a16:creationId xmlns:a16="http://schemas.microsoft.com/office/drawing/2014/main" id="{9B362198-BCA4-4706-870C-0848BFBF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D9EBD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9EBDF"/>
                </a:solidFill>
                <a:latin typeface="Arial"/>
                <a:ea typeface="Arial"/>
                <a:cs typeface="Arial"/>
              </a:rPr>
              <a:t>Aprendizado por reforço em um ambiente Gymnasium</a:t>
            </a:r>
          </a:p>
        </p:txBody>
      </p:sp>
      <p:sp>
        <p:nvSpPr>
          <p:cNvPr id="3" name="Retângulo 2">
            <a:extLst xmlns:a="http://schemas.openxmlformats.org/drawingml/2006/main">
              <a:ext uri="{FF2B5EF4-FFF2-40B4-BE49-F238E27FC236}">
                <a16:creationId xmlns:a16="http://schemas.microsoft.com/office/drawing/2014/main" id="{4FACC0C2-C6AB-4442-B335-683AF937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721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Nicolas Cussioli Raimundo  ·  Marcelo Fontana</a:t>
            </a:r>
          </a:p>
        </p:txBody>
      </p:sp>
    </p:spTree>
    <p:extLst>
      <p:ext uri="{BB962C8B-B14F-4D97-AF65-F5344CB8AC3E}">
        <p14:creationId xmlns:p14="http://schemas.microsoft.com/office/powerpoint/2010/main" val="4568979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tângulo 7">
            <a:extLst xmlns:a="http://schemas.openxmlformats.org/drawingml/2006/main">
              <a:ext uri="{FF2B5EF4-FFF2-40B4-BE49-F238E27FC236}">
                <a16:creationId xmlns:a16="http://schemas.microsoft.com/office/drawing/2014/main" id="{52BA7CDD-4B93-4961-8139-9DDAB089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372F"/>
                </a:solidFill>
                <a:latin typeface="Arial"/>
                <a:ea typeface="Arial"/>
                <a:cs typeface="Arial"/>
              </a:rPr>
              <a:t>A horta e o desafio</a:t>
            </a:r>
          </a:p>
        </p:txBody>
      </p:sp>
      <p:sp>
        <p:nvSpPr>
          <p:cNvPr id="2" name="Retângulo 1">
            <a:extLst xmlns:a="http://schemas.openxmlformats.org/drawingml/2006/main">
              <a:ext uri="{FF2B5EF4-FFF2-40B4-BE49-F238E27FC236}">
                <a16:creationId xmlns:a16="http://schemas.microsoft.com/office/drawing/2014/main" id="{F6A466E2-6986-4DB8-8942-0D963793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80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961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96159"/>
                </a:solidFill>
                <a:latin typeface="Arial"/>
                <a:ea typeface="Arial"/>
                <a:cs typeface="Arial"/>
              </a:rPr>
              <a:t>2 / 6</a:t>
            </a:r>
          </a:p>
        </p:txBody>
      </p:sp>
      <p:pic>
        <p:nvPicPr>
          <p:cNvPr id="12" name="Imagem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3eaccde4a84094"/>
          <a:stretch xmlns:a="http://schemas.openxmlformats.org/drawingml/2006/main"/>
        </p:blipFill>
        <p:spPr>
          <a:xfrm xmlns:a="http://schemas.openxmlformats.org/drawingml/2006/main">
            <a:off x="647700" y="1285875"/>
            <a:ext cx="7239000" cy="4524375"/>
          </a:xfrm>
          <a:prstGeom xmlns:a="http://schemas.openxmlformats.org/drawingml/2006/main" prst="rect">
            <a:avLst/>
          </a:prstGeom>
        </p:spPr>
      </p:pic>
      <p:sp>
        <p:nvSpPr>
          <p:cNvPr id="4" name="Retângulo 3">
            <a:extLst xmlns:a="http://schemas.openxmlformats.org/drawingml/2006/main">
              <a:ext uri="{FF2B5EF4-FFF2-40B4-BE49-F238E27FC236}">
                <a16:creationId xmlns:a16="http://schemas.microsoft.com/office/drawing/2014/main" id="{470F47D9-0F76-403A-A37E-274A65DF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193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1E654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E654B"/>
                </a:solidFill>
                <a:latin typeface="Arial"/>
                <a:ea typeface="Arial"/>
                <a:cs typeface="Arial"/>
              </a:rPr>
              <a:t>4 canteiros</a:t>
            </a:r>
          </a:p>
        </p:txBody>
      </p:sp>
      <p:sp>
        <p:nvSpPr>
          <p:cNvPr id="5" name="Retângulo 4">
            <a:extLst xmlns:a="http://schemas.openxmlformats.org/drawingml/2006/main">
              <a:ext uri="{FF2B5EF4-FFF2-40B4-BE49-F238E27FC236}">
                <a16:creationId xmlns:a16="http://schemas.microsoft.com/office/drawing/2014/main" id="{EF29DFDE-4EE7-45F8-9578-B3FD09D2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5270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72F"/>
                </a:solidFill>
                <a:latin typeface="Arial"/>
                <a:ea typeface="Arial"/>
                <a:cs typeface="Arial"/>
              </a:rPr>
              <a:t>Faixas ideais de umidade diferentes</a:t>
            </a:r>
          </a:p>
        </p:txBody>
      </p:sp>
      <p:sp>
        <p:nvSpPr>
          <p:cNvPr id="6" name="Retângulo 5">
            <a:extLst xmlns:a="http://schemas.openxmlformats.org/drawingml/2006/main">
              <a:ext uri="{FF2B5EF4-FFF2-40B4-BE49-F238E27FC236}">
                <a16:creationId xmlns:a16="http://schemas.microsoft.com/office/drawing/2014/main" id="{9F258924-DB1C-4BE1-A9C4-713BAF0A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195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1E654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E654B"/>
                </a:solidFill>
                <a:latin typeface="Arial"/>
                <a:ea typeface="Arial"/>
                <a:cs typeface="Arial"/>
              </a:rPr>
              <a:t>8 unidades</a:t>
            </a:r>
          </a:p>
        </p:txBody>
      </p:sp>
      <p:sp>
        <p:nvSpPr>
          <p:cNvPr id="7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62C954A0-44C5-45AE-ACEA-ADD1A2F0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52925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72F"/>
                </a:solidFill>
                <a:latin typeface="Arial"/>
                <a:ea typeface="Arial"/>
                <a:cs typeface="Arial"/>
              </a:rPr>
              <a:t>Capacidade do reservatório</a:t>
            </a:r>
          </a:p>
        </p:txBody>
      </p:sp>
    </p:spTree>
    <p:extLst>
      <p:ext uri="{BB962C8B-B14F-4D97-AF65-F5344CB8AC3E}">
        <p14:creationId xmlns:p14="http://schemas.microsoft.com/office/powerpoint/2010/main" val="14659129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tângulo 11">
            <a:extLst xmlns:a="http://schemas.openxmlformats.org/drawingml/2006/main">
              <a:ext uri="{FF2B5EF4-FFF2-40B4-BE49-F238E27FC236}">
                <a16:creationId xmlns:a16="http://schemas.microsoft.com/office/drawing/2014/main" id="{7F93388C-8222-493D-B161-26F33FB4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372F"/>
                </a:solidFill>
                <a:latin typeface="Arial"/>
                <a:ea typeface="Arial"/>
                <a:cs typeface="Arial"/>
              </a:rPr>
              <a:t>Como modelamos o MDP</a:t>
            </a:r>
          </a:p>
        </p:txBody>
      </p:sp>
      <p:sp>
        <p:nvSpPr>
          <p:cNvPr id="2" name="Retângulo 1">
            <a:extLst xmlns:a="http://schemas.openxmlformats.org/drawingml/2006/main">
              <a:ext uri="{FF2B5EF4-FFF2-40B4-BE49-F238E27FC236}">
                <a16:creationId xmlns:a16="http://schemas.microsoft.com/office/drawing/2014/main" id="{AC0DE938-7468-4C96-A7D6-2748F466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80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961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96159"/>
                </a:solidFill>
                <a:latin typeface="Arial"/>
                <a:ea typeface="Arial"/>
                <a:cs typeface="Arial"/>
              </a:rPr>
              <a:t>3 / 6</a:t>
            </a:r>
          </a:p>
        </p:txBody>
      </p:sp>
      <p:sp>
        <p:nvSpPr>
          <p:cNvPr id="3" name="Retângulo 2">
            <a:extLst xmlns:a="http://schemas.openxmlformats.org/drawingml/2006/main">
              <a:ext uri="{FF2B5EF4-FFF2-40B4-BE49-F238E27FC236}">
                <a16:creationId xmlns:a16="http://schemas.microsoft.com/office/drawing/2014/main" id="{C90BF857-836D-4E36-B7EA-320A92A1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00175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E654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E654B"/>
                </a:solidFill>
                <a:latin typeface="Arial"/>
                <a:ea typeface="Arial"/>
                <a:cs typeface="Arial"/>
              </a:rPr>
              <a:t>Estado</a:t>
            </a:r>
          </a:p>
        </p:txBody>
      </p:sp>
      <p:sp>
        <p:nvSpPr>
          <p:cNvPr id="4" name="Retângulo 3">
            <a:extLst xmlns:a="http://schemas.openxmlformats.org/drawingml/2006/main">
              <a:ext uri="{FF2B5EF4-FFF2-40B4-BE49-F238E27FC236}">
                <a16:creationId xmlns:a16="http://schemas.microsoft.com/office/drawing/2014/main" id="{C6206972-DC90-4202-B63B-7BCDBAB0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381125"/>
            <a:ext cx="809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72F"/>
                </a:solidFill>
                <a:latin typeface="Arial"/>
                <a:ea typeface="Arial"/>
                <a:cs typeface="Arial"/>
              </a:rPr>
              <a:t>Umidade e saúde dos 4 canteiros, água, clima e tempo restante</a:t>
            </a:r>
          </a:p>
        </p:txBody>
      </p:sp>
      <p:sp>
        <p:nvSpPr>
          <p:cNvPr id="5" name="Retângulo 4">
            <a:extLst xmlns:a="http://schemas.openxmlformats.org/drawingml/2006/main">
              <a:ext uri="{FF2B5EF4-FFF2-40B4-BE49-F238E27FC236}">
                <a16:creationId xmlns:a16="http://schemas.microsoft.com/office/drawing/2014/main" id="{8A4B7136-DFDA-4446-AE06-253C555A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E654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E654B"/>
                </a:solidFill>
                <a:latin typeface="Arial"/>
                <a:ea typeface="Arial"/>
                <a:cs typeface="Arial"/>
              </a:rPr>
              <a:t>Ações</a:t>
            </a:r>
          </a:p>
        </p:txBody>
      </p:sp>
      <p:sp>
        <p:nvSpPr>
          <p:cNvPr id="6" name="Retângulo 5">
            <a:extLst xmlns:a="http://schemas.openxmlformats.org/drawingml/2006/main">
              <a:ext uri="{FF2B5EF4-FFF2-40B4-BE49-F238E27FC236}">
                <a16:creationId xmlns:a16="http://schemas.microsoft.com/office/drawing/2014/main" id="{3E5DD015-2181-44D2-8B23-6F97FE3F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24125"/>
            <a:ext cx="809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72F"/>
                </a:solidFill>
                <a:latin typeface="Arial"/>
                <a:ea typeface="Arial"/>
                <a:cs typeface="Arial"/>
              </a:rPr>
              <a:t>Irrigar um canteiro, reabastecer ou esperar</a:t>
            </a:r>
          </a:p>
        </p:txBody>
      </p:sp>
      <p:sp>
        <p:nvSpPr>
          <p:cNvPr id="7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B750B3E6-BD29-498A-81C0-B5CBD62F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86175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E654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E654B"/>
                </a:solidFill>
                <a:latin typeface="Arial"/>
                <a:ea typeface="Arial"/>
                <a:cs typeface="Arial"/>
              </a:rPr>
              <a:t>Transição</a:t>
            </a:r>
          </a:p>
        </p:txBody>
      </p:sp>
      <p:sp>
        <p:nvSpPr>
          <p:cNvPr id="8" name="Retângulo 7">
            <a:extLst xmlns:a="http://schemas.openxmlformats.org/drawingml/2006/main">
              <a:ext uri="{FF2B5EF4-FFF2-40B4-BE49-F238E27FC236}">
                <a16:creationId xmlns:a16="http://schemas.microsoft.com/office/drawing/2014/main" id="{E95E1EF0-46B2-4223-91FE-FF84477D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67125"/>
            <a:ext cx="809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72F"/>
                </a:solidFill>
                <a:latin typeface="Arial"/>
                <a:ea typeface="Arial"/>
                <a:cs typeface="Arial"/>
              </a:rPr>
              <a:t>Chuva, evaporação e drenagem mudam a umidade; o clima é probabilístico</a:t>
            </a:r>
          </a:p>
        </p:txBody>
      </p:sp>
      <p:sp>
        <p:nvSpPr>
          <p:cNvPr id="9" name="Retângulo 8">
            <a:extLst xmlns:a="http://schemas.openxmlformats.org/drawingml/2006/main">
              <a:ext uri="{FF2B5EF4-FFF2-40B4-BE49-F238E27FC236}">
                <a16:creationId xmlns:a16="http://schemas.microsoft.com/office/drawing/2014/main" id="{D078B9CA-3CB0-4D75-B0B3-4AB9FB7A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29175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E654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E654B"/>
                </a:solidFill>
                <a:latin typeface="Arial"/>
                <a:ea typeface="Arial"/>
                <a:cs typeface="Arial"/>
              </a:rPr>
              <a:t>Recompensa</a:t>
            </a:r>
          </a:p>
        </p:txBody>
      </p:sp>
      <p:sp>
        <p:nvSpPr>
          <p:cNvPr id="10" name="Retângulo 9">
            <a:extLst xmlns:a="http://schemas.openxmlformats.org/drawingml/2006/main">
              <a:ext uri="{FF2B5EF4-FFF2-40B4-BE49-F238E27FC236}">
                <a16:creationId xmlns:a16="http://schemas.microsoft.com/office/drawing/2014/main" id="{95DBAB7C-30AF-42A9-AAA5-1F5B34E0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10125"/>
            <a:ext cx="809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72F"/>
                </a:solidFill>
                <a:latin typeface="Arial"/>
                <a:ea typeface="Arial"/>
                <a:cs typeface="Arial"/>
              </a:rPr>
              <a:t>Favorece saúde; desconta água usada, reabastecimento e mortes</a:t>
            </a:r>
          </a:p>
        </p:txBody>
      </p:sp>
      <p:sp>
        <p:nvSpPr>
          <p:cNvPr id="11" name="Retângulo 10">
            <a:extLst xmlns:a="http://schemas.openxmlformats.org/drawingml/2006/main">
              <a:ext uri="{FF2B5EF4-FFF2-40B4-BE49-F238E27FC236}">
                <a16:creationId xmlns:a16="http://schemas.microsoft.com/office/drawing/2014/main" id="{FB89F634-7102-4656-AE32-AE45E8DD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05525"/>
            <a:ext cx="714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9615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96159"/>
                </a:solidFill>
                <a:latin typeface="Arial"/>
                <a:ea typeface="Arial"/>
                <a:cs typeface="Arial"/>
              </a:rPr>
              <a:t>Episódio: até 60 turnos</a:t>
            </a:r>
          </a:p>
        </p:txBody>
      </p:sp>
    </p:spTree>
    <p:extLst>
      <p:ext uri="{BB962C8B-B14F-4D97-AF65-F5344CB8AC3E}">
        <p14:creationId xmlns:p14="http://schemas.microsoft.com/office/powerpoint/2010/main" val="15313134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tângulo 8">
            <a:extLst xmlns:a="http://schemas.openxmlformats.org/drawingml/2006/main">
              <a:ext uri="{FF2B5EF4-FFF2-40B4-BE49-F238E27FC236}">
                <a16:creationId xmlns:a16="http://schemas.microsoft.com/office/drawing/2014/main" id="{737F4986-6FAB-4ADD-9B35-523E10BB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372F"/>
                </a:solidFill>
                <a:latin typeface="Arial"/>
                <a:ea typeface="Arial"/>
                <a:cs typeface="Arial"/>
              </a:rPr>
              <a:t>Como comparamos os algoritmos</a:t>
            </a:r>
          </a:p>
        </p:txBody>
      </p:sp>
      <p:sp>
        <p:nvSpPr>
          <p:cNvPr id="2" name="Retângulo 1">
            <a:extLst xmlns:a="http://schemas.openxmlformats.org/drawingml/2006/main">
              <a:ext uri="{FF2B5EF4-FFF2-40B4-BE49-F238E27FC236}">
                <a16:creationId xmlns:a16="http://schemas.microsoft.com/office/drawing/2014/main" id="{F589258E-69F2-44DD-A4E1-4D02F30E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80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961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96159"/>
                </a:solidFill>
                <a:latin typeface="Arial"/>
                <a:ea typeface="Arial"/>
                <a:cs typeface="Arial"/>
              </a:rPr>
              <a:t>4 / 6</a:t>
            </a:r>
          </a:p>
        </p:txBody>
      </p:sp>
      <p:sp>
        <p:nvSpPr>
          <p:cNvPr id="3" name="Retângulo 2">
            <a:extLst xmlns:a="http://schemas.openxmlformats.org/drawingml/2006/main">
              <a:ext uri="{FF2B5EF4-FFF2-40B4-BE49-F238E27FC236}">
                <a16:creationId xmlns:a16="http://schemas.microsoft.com/office/drawing/2014/main" id="{7DA55309-0189-49C2-AC4A-8753BBFB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54305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825" b="1">
                <a:solidFill>
                  <a:srgbClr val="1E654B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E654B"/>
                </a:solidFill>
                <a:latin typeface="Arial"/>
                <a:ea typeface="Arial"/>
                <a:cs typeface="Arial"/>
              </a:rPr>
              <a:t>DQN    PPO    A2C</a:t>
            </a:r>
          </a:p>
        </p:txBody>
      </p:sp>
      <p:sp>
        <p:nvSpPr>
          <p:cNvPr id="4" name="Retângulo 3">
            <a:extLst xmlns:a="http://schemas.openxmlformats.org/drawingml/2006/main">
              <a:ext uri="{FF2B5EF4-FFF2-40B4-BE49-F238E27FC236}">
                <a16:creationId xmlns:a16="http://schemas.microsoft.com/office/drawing/2014/main" id="{04A03B5F-6163-4A1B-A2D2-496FDE5D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72F"/>
                </a:solidFill>
                <a:latin typeface="Arial"/>
                <a:ea typeface="Arial"/>
                <a:cs typeface="Arial"/>
              </a:rPr>
              <a:t>Busca de hiperparâmetros</a:t>
            </a:r>
          </a:p>
        </p:txBody>
      </p:sp>
      <p:sp>
        <p:nvSpPr>
          <p:cNvPr id="5" name="Retângulo 4">
            <a:extLst xmlns:a="http://schemas.openxmlformats.org/drawingml/2006/main">
              <a:ext uri="{FF2B5EF4-FFF2-40B4-BE49-F238E27FC236}">
                <a16:creationId xmlns:a16="http://schemas.microsoft.com/office/drawing/2014/main" id="{6535BCD8-4606-4BB8-9D8F-6771115F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24225"/>
            <a:ext cx="50958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49615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96159"/>
                </a:solidFill>
                <a:latin typeface="Arial"/>
                <a:ea typeface="Arial"/>
                <a:cs typeface="Arial"/>
              </a:rPr>
              <a:t>4 configurações por algoritmo</a:t>
            </a:r>
          </a:p>
          <a:p xmlns:a="http://schemas.openxmlformats.org/drawingml/2006/main">
            <a:pPr>
              <a:buNone/>
              <a:defRPr sz="1950" b="0">
                <a:solidFill>
                  <a:srgbClr val="49615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96159"/>
                </a:solidFill>
                <a:latin typeface="Arial"/>
                <a:ea typeface="Arial"/>
                <a:cs typeface="Arial"/>
              </a:rPr>
              <a:t>3 sementes por configuração</a:t>
            </a:r>
          </a:p>
          <a:p xmlns:a="http://schemas.openxmlformats.org/drawingml/2006/main">
            <a:pPr>
              <a:buNone/>
              <a:defRPr sz="1950" b="0">
                <a:solidFill>
                  <a:srgbClr val="49615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96159"/>
                </a:solidFill>
                <a:latin typeface="Arial"/>
                <a:ea typeface="Arial"/>
                <a:cs typeface="Arial"/>
              </a:rPr>
              <a:t>Seleção pela média na validação</a:t>
            </a:r>
          </a:p>
        </p:txBody>
      </p:sp>
      <p:sp>
        <p:nvSpPr>
          <p:cNvPr id="6" name="Retângulo 5">
            <a:extLst xmlns:a="http://schemas.openxmlformats.org/drawingml/2006/main">
              <a:ext uri="{FF2B5EF4-FFF2-40B4-BE49-F238E27FC236}">
                <a16:creationId xmlns:a16="http://schemas.microsoft.com/office/drawing/2014/main" id="{57831C99-DD89-4891-B098-D6C1BF77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24150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72F"/>
                </a:solidFill>
                <a:latin typeface="Arial"/>
                <a:ea typeface="Arial"/>
                <a:cs typeface="Arial"/>
              </a:rPr>
              <a:t>Avaliação final</a:t>
            </a:r>
          </a:p>
        </p:txBody>
      </p:sp>
      <p:sp>
        <p:nvSpPr>
          <p:cNvPr id="7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821AD85B-3EE4-4197-B1BA-9D3B0DCC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24225"/>
            <a:ext cx="5143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49615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96159"/>
                </a:solidFill>
                <a:latin typeface="Arial"/>
                <a:ea typeface="Arial"/>
                <a:cs typeface="Arial"/>
              </a:rPr>
              <a:t>5 novos treinos por algoritmo</a:t>
            </a:r>
          </a:p>
          <a:p xmlns:a="http://schemas.openxmlformats.org/drawingml/2006/main">
            <a:pPr>
              <a:buNone/>
              <a:defRPr sz="1950" b="0">
                <a:solidFill>
                  <a:srgbClr val="49615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96159"/>
                </a:solidFill>
                <a:latin typeface="Arial"/>
                <a:ea typeface="Arial"/>
                <a:cs typeface="Arial"/>
              </a:rPr>
              <a:t>100 episódios de teste por modelo</a:t>
            </a:r>
          </a:p>
          <a:p xmlns:a="http://schemas.openxmlformats.org/drawingml/2006/main">
            <a:pPr>
              <a:buNone/>
              <a:defRPr sz="1950" b="0">
                <a:solidFill>
                  <a:srgbClr val="49615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96159"/>
                </a:solidFill>
                <a:latin typeface="Arial"/>
                <a:ea typeface="Arial"/>
                <a:cs typeface="Arial"/>
              </a:rPr>
              <a:t>Referências: regra simples e ações aleatórias</a:t>
            </a:r>
          </a:p>
        </p:txBody>
      </p:sp>
      <p:sp>
        <p:nvSpPr>
          <p:cNvPr id="8" name="Retângulo 7">
            <a:extLst xmlns:a="http://schemas.openxmlformats.org/drawingml/2006/main">
              <a:ext uri="{FF2B5EF4-FFF2-40B4-BE49-F238E27FC236}">
                <a16:creationId xmlns:a16="http://schemas.microsoft.com/office/drawing/2014/main" id="{B92BEC53-0AF3-4C90-925D-FA2122DD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10001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E65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654B"/>
                </a:solidFill>
                <a:latin typeface="Arial"/>
                <a:ea typeface="Arial"/>
                <a:cs typeface="Arial"/>
              </a:rPr>
              <a:t>Treino final: 307.200 interações por modelo</a:t>
            </a:r>
          </a:p>
        </p:txBody>
      </p:sp>
    </p:spTree>
    <p:extLst>
      <p:ext uri="{BB962C8B-B14F-4D97-AF65-F5344CB8AC3E}">
        <p14:creationId xmlns:p14="http://schemas.microsoft.com/office/powerpoint/2010/main" val="12021080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tângulo 7">
            <a:extLst xmlns:a="http://schemas.openxmlformats.org/drawingml/2006/main">
              <a:ext uri="{FF2B5EF4-FFF2-40B4-BE49-F238E27FC236}">
                <a16:creationId xmlns:a16="http://schemas.microsoft.com/office/drawing/2014/main" id="{BD3D9B2E-14A6-46A9-A308-2DF5BF11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372F"/>
                </a:solidFill>
                <a:latin typeface="Arial"/>
                <a:ea typeface="Arial"/>
                <a:cs typeface="Arial"/>
              </a:rPr>
              <a:t>PPO teve o maior retorno médio</a:t>
            </a:r>
          </a:p>
        </p:txBody>
      </p:sp>
      <p:sp>
        <p:nvSpPr>
          <p:cNvPr id="2" name="Retângulo 1">
            <a:extLst xmlns:a="http://schemas.openxmlformats.org/drawingml/2006/main">
              <a:ext uri="{FF2B5EF4-FFF2-40B4-BE49-F238E27FC236}">
                <a16:creationId xmlns:a16="http://schemas.microsoft.com/office/drawing/2014/main" id="{9AD637F0-EAFB-4D2D-A390-4D9A7E1D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80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961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96159"/>
                </a:solidFill>
                <a:latin typeface="Arial"/>
                <a:ea typeface="Arial"/>
                <a:cs typeface="Arial"/>
              </a:rPr>
              <a:t>5 / 6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85800" y="1381125"/>
          <a:ext xmlns:a="http://schemas.openxmlformats.org/drawingml/2006/main" cx="7620000" cy="4219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32ea56a3a7741d9"/>
          </a:graphicData>
        </a:graphic>
      </p:graphicFrame>
      <p:sp>
        <p:nvSpPr>
          <p:cNvPr id="4" name="Retângulo 3">
            <a:extLst xmlns:a="http://schemas.openxmlformats.org/drawingml/2006/main">
              <a:ext uri="{FF2B5EF4-FFF2-40B4-BE49-F238E27FC236}">
                <a16:creationId xmlns:a16="http://schemas.microsoft.com/office/drawing/2014/main" id="{DFFAF3B8-1296-4F7D-A225-9D585124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28875"/>
            <a:ext cx="2714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425" b="1">
                <a:solidFill>
                  <a:srgbClr val="1E654B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1E654B"/>
                </a:solidFill>
                <a:latin typeface="Arial"/>
                <a:ea typeface="Arial"/>
                <a:cs typeface="Arial"/>
              </a:rPr>
              <a:t>94,2%</a:t>
            </a:r>
          </a:p>
        </p:txBody>
      </p:sp>
      <p:sp>
        <p:nvSpPr>
          <p:cNvPr id="5" name="Retângulo 4">
            <a:extLst xmlns:a="http://schemas.openxmlformats.org/drawingml/2006/main">
              <a:ext uri="{FF2B5EF4-FFF2-40B4-BE49-F238E27FC236}">
                <a16:creationId xmlns:a16="http://schemas.microsoft.com/office/drawing/2014/main" id="{5C64BE36-CF23-4AA0-A52E-E5C14024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38500"/>
            <a:ext cx="2724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72F"/>
                </a:solidFill>
                <a:latin typeface="Arial"/>
                <a:ea typeface="Arial"/>
                <a:cs typeface="Arial"/>
              </a:rPr>
              <a:t>sucesso do PPO</a:t>
            </a:r>
          </a:p>
        </p:txBody>
      </p:sp>
      <p:sp>
        <p:nvSpPr>
          <p:cNvPr id="6" name="Retângulo 5">
            <a:extLst xmlns:a="http://schemas.openxmlformats.org/drawingml/2006/main">
              <a:ext uri="{FF2B5EF4-FFF2-40B4-BE49-F238E27FC236}">
                <a16:creationId xmlns:a16="http://schemas.microsoft.com/office/drawing/2014/main" id="{F1243A06-7FC8-45F2-A835-31E4B9FE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33875"/>
            <a:ext cx="2714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425" b="1">
                <a:solidFill>
                  <a:srgbClr val="1E654B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1E654B"/>
                </a:solidFill>
                <a:latin typeface="Arial"/>
                <a:ea typeface="Arial"/>
                <a:cs typeface="Arial"/>
              </a:rPr>
              <a:t>16,2</a:t>
            </a:r>
          </a:p>
        </p:txBody>
      </p:sp>
      <p:sp>
        <p:nvSpPr>
          <p:cNvPr id="7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832AF2A9-2222-484E-81CB-26257BC3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153025"/>
            <a:ext cx="276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72F"/>
                </a:solidFill>
                <a:latin typeface="Arial"/>
                <a:ea typeface="Arial"/>
                <a:cs typeface="Arial"/>
              </a:rPr>
              <a:t>unidades de água</a:t>
            </a:r>
          </a:p>
          <a:p xmlns:a="http://schemas.openxmlformats.org/drawingml/2006/main">
            <a:pPr>
              <a:buNone/>
              <a:defRPr sz="1875" b="0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72F"/>
                </a:solidFill>
                <a:latin typeface="Arial"/>
                <a:ea typeface="Arial"/>
                <a:cs typeface="Arial"/>
              </a:rPr>
              <a:t>por episódio</a:t>
            </a:r>
          </a:p>
        </p:txBody>
      </p:sp>
    </p:spTree>
    <p:extLst>
      <p:ext uri="{BB962C8B-B14F-4D97-AF65-F5344CB8AC3E}">
        <p14:creationId xmlns:p14="http://schemas.microsoft.com/office/powerpoint/2010/main" val="5667406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tângulo 5">
            <a:extLst xmlns:a="http://schemas.openxmlformats.org/drawingml/2006/main">
              <a:ext uri="{FF2B5EF4-FFF2-40B4-BE49-F238E27FC236}">
                <a16:creationId xmlns:a16="http://schemas.microsoft.com/office/drawing/2014/main" id="{851D1B3B-9BBA-41C7-ADA4-36D2FCA3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372F"/>
                </a:solidFill>
                <a:latin typeface="Arial"/>
                <a:ea typeface="Arial"/>
                <a:cs typeface="Arial"/>
              </a:rPr>
              <a:t>Conclusão e próximos passos</a:t>
            </a:r>
          </a:p>
        </p:txBody>
      </p:sp>
      <p:sp>
        <p:nvSpPr>
          <p:cNvPr id="2" name="Retângulo 1">
            <a:extLst xmlns:a="http://schemas.openxmlformats.org/drawingml/2006/main">
              <a:ext uri="{FF2B5EF4-FFF2-40B4-BE49-F238E27FC236}">
                <a16:creationId xmlns:a16="http://schemas.microsoft.com/office/drawing/2014/main" id="{06B95840-4E58-43E4-8527-973F6396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80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961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96159"/>
                </a:solidFill>
                <a:latin typeface="Arial"/>
                <a:ea typeface="Arial"/>
                <a:cs typeface="Arial"/>
              </a:rPr>
              <a:t>6 / 6</a:t>
            </a:r>
          </a:p>
        </p:txBody>
      </p:sp>
      <p:sp>
        <p:nvSpPr>
          <p:cNvPr id="3" name="Retângulo 2">
            <a:extLst xmlns:a="http://schemas.openxmlformats.org/drawingml/2006/main">
              <a:ext uri="{FF2B5EF4-FFF2-40B4-BE49-F238E27FC236}">
                <a16:creationId xmlns:a16="http://schemas.microsoft.com/office/drawing/2014/main" id="{534A0FD5-E20F-420A-A62E-A37F1354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10382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72F"/>
                </a:solidFill>
                <a:latin typeface="Arial"/>
                <a:ea typeface="Arial"/>
                <a:cs typeface="Arial"/>
              </a:rPr>
              <a:t>O MDP permitiu comparar decisões de irrigação</a:t>
            </a:r>
          </a:p>
          <a:p xmlns:a="http://schemas.openxmlformats.org/drawingml/2006/main">
            <a:pPr>
              <a:buNone/>
              <a:defRPr sz="2700" b="1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72F"/>
                </a:solidFill>
                <a:latin typeface="Arial"/>
                <a:ea typeface="Arial"/>
                <a:cs typeface="Arial"/>
              </a:rPr>
              <a:t>com o mesmo orçamento de treino e teste.</a:t>
            </a:r>
          </a:p>
        </p:txBody>
      </p:sp>
      <p:sp>
        <p:nvSpPr>
          <p:cNvPr id="4" name="Retângulo 3">
            <a:extLst xmlns:a="http://schemas.openxmlformats.org/drawingml/2006/main">
              <a:ext uri="{FF2B5EF4-FFF2-40B4-BE49-F238E27FC236}">
                <a16:creationId xmlns:a16="http://schemas.microsoft.com/office/drawing/2014/main" id="{2496B471-B67E-44E7-9DBB-652482DA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E65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E654B"/>
                </a:solidFill>
                <a:latin typeface="Arial"/>
                <a:ea typeface="Arial"/>
                <a:cs typeface="Arial"/>
              </a:rPr>
              <a:t>Limitação: regras sintéticas, sem sensores reais.</a:t>
            </a:r>
          </a:p>
        </p:txBody>
      </p:sp>
      <p:sp>
        <p:nvSpPr>
          <p:cNvPr id="5" name="Retângulo 4">
            <a:extLst xmlns:a="http://schemas.openxmlformats.org/drawingml/2006/main">
              <a:ext uri="{FF2B5EF4-FFF2-40B4-BE49-F238E27FC236}">
                <a16:creationId xmlns:a16="http://schemas.microsoft.com/office/drawing/2014/main" id="{21BBC1F8-133C-4C0C-8140-C8DF3450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81550"/>
            <a:ext cx="10620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49615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96159"/>
                </a:solidFill>
                <a:latin typeface="Arial"/>
                <a:ea typeface="Arial"/>
                <a:cs typeface="Arial"/>
              </a:rPr>
              <a:t>Próximos passos: ruído nos sensores e mais cenários de clima.</a:t>
            </a:r>
          </a:p>
        </p:txBody>
      </p:sp>
    </p:spTree>
    <p:extLst>
      <p:ext uri="{BB962C8B-B14F-4D97-AF65-F5344CB8AC3E}">
        <p14:creationId xmlns:p14="http://schemas.microsoft.com/office/powerpoint/2010/main" val="20495601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2026-09-28T00:45:03.3400000Z</dcterms:created>
  <dcterms:modified xsi:type="dcterms:W3CDTF">2026-09-28T00:45:03.3400000Z</dcterms:modified>
</coreProperties>
</file>