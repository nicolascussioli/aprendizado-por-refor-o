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7e26b33514428" /><Relationship Type="http://schemas.openxmlformats.org/officeDocument/2006/relationships/extended-properties" Target="/docProps/app.xml" Id="R25dbd90a2cac45ef" /><Relationship Type="http://schemas.openxmlformats.org/officeDocument/2006/relationships/officeDocument" Target="/ppt/presentation.xml" Id="R9ca0ceb232ea4b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076a52ecaa4f60"/>
  </p:sldMasterIdLst>
  <p:notesMasterIdLst>
    <p:notesMasterId xmlns:r="http://schemas.openxmlformats.org/officeDocument/2006/relationships" r:id="Rb7b4ed6fb61c497b"/>
  </p:notesMasterIdLst>
  <p:sldIdLst>
    <p:sldId xmlns:r="http://schemas.openxmlformats.org/officeDocument/2006/relationships" id="256" r:id="R3c918163e59441d4"/>
    <p:sldId xmlns:r="http://schemas.openxmlformats.org/officeDocument/2006/relationships" id="257" r:id="R961bf9dbc0e84ab8"/>
    <p:sldId xmlns:r="http://schemas.openxmlformats.org/officeDocument/2006/relationships" id="258" r:id="R0f331802a13b4248"/>
    <p:sldId xmlns:r="http://schemas.openxmlformats.org/officeDocument/2006/relationships" id="259" r:id="R52dd232c76d444d8"/>
    <p:sldId xmlns:r="http://schemas.openxmlformats.org/officeDocument/2006/relationships" id="260" r:id="Rc98a7676076d4905"/>
    <p:sldId xmlns:r="http://schemas.openxmlformats.org/officeDocument/2006/relationships" id="261" r:id="R4e3e33c7435548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f8df6750be40a2" /><Relationship Type="http://schemas.openxmlformats.org/officeDocument/2006/relationships/slideMaster" Target="/ppt/slideMasters/slideMaster1.xml" Id="R4b076a52ecaa4f60" /><Relationship Type="http://schemas.openxmlformats.org/officeDocument/2006/relationships/notesMaster" Target="/ppt/notesMasters/notesMaster1.xml" Id="Rb7b4ed6fb61c497b" /><Relationship Type="http://schemas.openxmlformats.org/officeDocument/2006/relationships/presProps" Target="/ppt/presProps.xml" Id="R2f3b5996421b4e5a" /><Relationship Type="http://schemas.openxmlformats.org/officeDocument/2006/relationships/tableStyles" Target="/ppt/tableStyles.xml" Id="R3bbff64e971443d6" /><Relationship Type="http://schemas.openxmlformats.org/officeDocument/2006/relationships/slide" Target="/ppt/slides/slide1.xml" Id="R3c918163e59441d4" /><Relationship Type="http://schemas.openxmlformats.org/officeDocument/2006/relationships/slide" Target="/ppt/slides/slide2.xml" Id="R961bf9dbc0e84ab8" /><Relationship Type="http://schemas.openxmlformats.org/officeDocument/2006/relationships/slide" Target="/ppt/slides/slide3.xml" Id="R0f331802a13b4248" /><Relationship Type="http://schemas.openxmlformats.org/officeDocument/2006/relationships/slide" Target="/ppt/slides/slide4.xml" Id="R52dd232c76d444d8" /><Relationship Type="http://schemas.openxmlformats.org/officeDocument/2006/relationships/slide" Target="/ppt/slides/slide5.xml" Id="Rc98a7676076d4905" /><Relationship Type="http://schemas.openxmlformats.org/officeDocument/2006/relationships/slide" Target="/ppt/slides/slide6.xml" Id="R4e3e33c7435548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f5c4d1364d49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2c9dc8a1884369" /><Relationship Type="http://schemas.openxmlformats.org/officeDocument/2006/relationships/notesMaster" Target="/ppt/notesMasters/notesMaster1.xml" Id="Rbf9861d6652c4d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595d7833be4154" /><Relationship Type="http://schemas.openxmlformats.org/officeDocument/2006/relationships/notesMaster" Target="/ppt/notesMasters/notesMaster1.xml" Id="Rfaa92ea78af84e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5066cfea1042e8" /><Relationship Type="http://schemas.openxmlformats.org/officeDocument/2006/relationships/notesMaster" Target="/ppt/notesMasters/notesMaster1.xml" Id="R217b25f2e53b46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a7f8eefeca44ec" /><Relationship Type="http://schemas.openxmlformats.org/officeDocument/2006/relationships/notesMaster" Target="/ppt/notesMasters/notesMaster1.xml" Id="Rfc552986788746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a034949a4342c6" /><Relationship Type="http://schemas.openxmlformats.org/officeDocument/2006/relationships/notesMaster" Target="/ppt/notesMasters/notesMaster1.xml" Id="R14918ed78e6b48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f933bd83744db0" /><Relationship Type="http://schemas.openxmlformats.org/officeDocument/2006/relationships/notesMaster" Target="/ppt/notesMasters/notesMaster1.xml" Id="R3a467d1ff9e2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Nicolas | 0:00–0:15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Olá! Somos Nicolas e Marcelo. Criamos uma horta virtual para estudar como manter quatro canteiros saudáveis usando pouca água.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Nicolas | 0:15–0:40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canteiro tem uma faixa ideal de umidade diferente. Seca e excesso de água prejudicam a saúde das plantas. O reservatório tem capacidade de oito unidades. Esta imagem vem da renderização do nosso ambiente.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Nicolas | 0:40–1:10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estado contém umidade e saúde de cada canteiro, água no reservatório, clima e tempo restante. As ações são irrigar um dos quatro canteiros, reabastecer ou esperar. A transição inclui chuva, evaporação e drenagem. O clima muda de forma probabilística. A recompensa favorece a saúde e penaliza uso de água, reabastecimentos e mortes. Cada episódio dura até sessenta turnos. As regras são didáticas e não foram validadas para uso agrícola.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Marcelo | 1:10–1:50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Comparamos DQN, PPO e A2C. Testamos quatro configurações por algoritmo com três sementes de treinamento, escolhendo a melhor pela média na validação. Depois retreinamos cada vencedor com cinco sementes novas, por 307.200 interações por modelo. Avaliamos cada um em cem episódios de teste, sem aprender durante o teste. Também incluímos uma política aleatória e uma regra simples para comparação.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Marcelo | 1:50–2:35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PPO teve o maior retorno médio: 55,90, com desvio padrão de 0,26 entre cinco treinamentos. A2C chegou a 55,14, e DQN a 54,42. A regra simples teve 55,04; a política aleatória, 13,58. O PPO teve sucesso em 94,2 por cento dos episódios e usou em média 16,2 unidades de água. Sucesso exige completar os sessenta turnos com todas as plantas vivas e saúde média de pelo menos cinquenta por cento. Estas são médias no simulador; não afirmamos diferença estatisticamente significativa entre PPO e a regra simples. Fontes do projeto: results/final_summary.csv, results/heuristic.csv e results/random.csv.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Nicolas e Marcelo | 2:35–2:50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Nicolas: Implementamos o MDP e registramos os parâmetros e as avaliações de três algoritmos.</a:t>
            </a:r>
          </a:p>
          <a:p xmlns:a="http://schemas.openxmlformats.org/drawingml/2006/main">
            <a:r>
              <a:t>Marcelo: Os resultados valem para este simulador. Como próximos passos, podemos testar sensores com ruído, outras plantas e cenários de clima.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fd8f15bcc4e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deb1561838460a" /><Relationship Type="http://schemas.openxmlformats.org/officeDocument/2006/relationships/slideLayout" Target="/ppt/slideLayouts/slideLayout1.xml" Id="R952ff358249940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2ff358249940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9dc4e68334e28" /><Relationship Type="http://schemas.openxmlformats.org/officeDocument/2006/relationships/notesSlide" Target="/ppt/notesSlides/notesSlide1.xml" Id="R486322642f4f4e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389ed95f34c64" /><Relationship Type="http://schemas.openxmlformats.org/officeDocument/2006/relationships/image" Target="/ppt/media/image.png" Id="R2ff3c51cbc6d4489" /><Relationship Type="http://schemas.openxmlformats.org/officeDocument/2006/relationships/notesSlide" Target="/ppt/notesSlides/notesSlide2.xml" Id="R1bca8ef3ac7246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f7f092df54f2f" /><Relationship Type="http://schemas.openxmlformats.org/officeDocument/2006/relationships/notesSlide" Target="/ppt/notesSlides/notesSlide3.xml" Id="Re012e6cc5db249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c88d24b744926" /><Relationship Type="http://schemas.openxmlformats.org/officeDocument/2006/relationships/notesSlide" Target="/ppt/notesSlides/notesSlide4.xml" Id="R89046a9e03be43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3300c3f444db0" /><Relationship Type="http://schemas.openxmlformats.org/officeDocument/2006/relationships/chart" Target="/ppt/slides/charts/chart1.xml" Id="R5c479fe302e54fb5" /><Relationship Type="http://schemas.openxmlformats.org/officeDocument/2006/relationships/notesSlide" Target="/ppt/notesSlides/notesSlide5.xml" Id="R6a91611deba24e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2b00d7e0f4261" /><Relationship Type="http://schemas.openxmlformats.org/officeDocument/2006/relationships/notesSlide" Target="/ppt/notesSlides/notesSlide6.xml" Id="Rcb1a892e4405467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Retorno médio</c:v>
          </c:tx>
          <c:spPr>
            <a:solidFill xmlns:a="http://schemas.openxmlformats.org/drawingml/2006/main">
              <a:srgbClr val="1E654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B594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DAB4A"/>
              </a:solidFill>
            </c:spPr>
          </c:dPt>
          <c:cat>
            <c:strLit>
              <c:ptCount val="5"/>
              <c:pt idx="0">
                <c:v>Aleatória</c:v>
              </c:pt>
              <c:pt idx="1">
                <c:v>DQN</c:v>
              </c:pt>
              <c:pt idx="2">
                <c:v>Heurística</c:v>
              </c:pt>
              <c:pt idx="3">
                <c:v>A2C</c:v>
              </c:pt>
              <c:pt idx="4">
                <c:v>PPO</c:v>
              </c:pt>
            </c:strLit>
          </c:cat>
          <c:val>
            <c:numLit>
              <c:formatCode>General</c:formatCode>
              <c:ptCount val="5"/>
              <c:pt idx="0">
                <c:v>13.58</c:v>
              </c:pt>
              <c:pt idx="1">
                <c:v>54.42</c:v>
              </c:pt>
              <c:pt idx="2">
                <c:v>55.04</c:v>
              </c:pt>
              <c:pt idx="3">
                <c:v>55.14</c:v>
              </c:pt>
              <c:pt idx="4">
                <c:v>55.9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7372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D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6F97B-AAA7-4B2A-9C10-6234248A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9906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Irrigação inteligente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uma horta virtual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62198-BCA4-4706-870C-0848BFB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9EB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9EBDF"/>
                </a:solidFill>
                <a:latin typeface="Arial"/>
                <a:ea typeface="Arial"/>
                <a:cs typeface="Arial"/>
              </a:rPr>
              <a:t>Aprendizado por reforço em um ambiente Gymnasium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CC0C2-C6AB-4442-B335-683AF937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Nicolas Cussioli Raimundo  ·  Marcelo Fontana</a:t>
            </a:r>
          </a:p>
        </p:txBody>
      </p:sp>
    </p:spTree>
    <p:extLst>
      <p:ext uri="{BB962C8B-B14F-4D97-AF65-F5344CB8AC3E}">
        <p14:creationId xmlns:p14="http://schemas.microsoft.com/office/powerpoint/2010/main" val="456897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A7CDD-4B93-4961-8139-9DDAB089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A horta e o desafio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466E2-6986-4DB8-8942-0D963793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3c51cbc6d4489"/>
          <a:stretch xmlns:a="http://schemas.openxmlformats.org/drawingml/2006/main"/>
        </p:blipFill>
        <p:spPr>
          <a:xfrm xmlns:a="http://schemas.openxmlformats.org/drawingml/2006/main">
            <a:off x="647700" y="1285875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F47D9-0F76-403A-A37E-274A65DF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4 canteiros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9DFDE-4EE7-45F8-9578-B3FD09D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Faixas ideais de umidade diferentes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58924-DB1C-4BE1-A9C4-713BAF0A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8 unidades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954A0-44C5-45AE-ACEA-ADD1A2F0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5292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Capacidade do reservatório</a:t>
            </a:r>
          </a:p>
        </p:txBody>
      </p:sp>
    </p:spTree>
    <p:extLst>
      <p:ext uri="{BB962C8B-B14F-4D97-AF65-F5344CB8AC3E}">
        <p14:creationId xmlns:p14="http://schemas.microsoft.com/office/powerpoint/2010/main" val="1465912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3388C-8222-493D-B161-26F33FB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Como modelamos o MDP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DE938-7468-4C96-A7D6-2748F466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BF857-836D-4E36-B7EA-320A92A1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01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06972-DC90-4202-B63B-7BCDBAB0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Umidade e saúde dos 4 canteiros, água, clima e tempo restante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B7136-DFDA-4446-AE06-253C555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Ações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DD015-2181-44D2-8B23-6F97FE3F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1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Irrigar um canteiro, reabastecer ou esperar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0B3E6-BD29-498A-81C0-B5CBD62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Transição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E1EF0-46B2-4223-91FE-FF84477D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671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Chuva, evaporação e drenagem mudam a umidade; o clima é probabilístico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8B9CA-3CB0-4D75-B0B3-4AB9FB7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Recompensa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BAB7C-30AF-42A9-AAA5-1F5B34E0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Favorece saúde; desconta água usada, reabastecimento e mortes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9F634-7102-4656-AE32-AE45E8DD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Episódio: até 60 turnos</a:t>
            </a:r>
          </a:p>
        </p:txBody>
      </p:sp>
    </p:spTree>
    <p:extLst>
      <p:ext uri="{BB962C8B-B14F-4D97-AF65-F5344CB8AC3E}">
        <p14:creationId xmlns:p14="http://schemas.microsoft.com/office/powerpoint/2010/main" val="1531313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F4986-6FAB-4ADD-9B35-523E10BB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Como comparamos os algoritmos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9258E-69F2-44DD-A4E1-4D02F30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55309-0189-49C2-AC4A-8753BBF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5430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DQN    PPO    A2C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03B5F-6163-4A1B-A2D2-496FDE5D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Busca de hiperparâmetros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5BCD8-4606-4BB8-9D8F-6771115F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4 configurações por algoritmo</a:t>
            </a:r>
          </a:p>
          <a:p xmlns:a="http://schemas.openxmlformats.org/drawingml/2006/main">
            <a:pPr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3 sementes por configuração</a:t>
            </a:r>
          </a:p>
          <a:p xmlns:a="http://schemas.openxmlformats.org/drawingml/2006/main">
            <a:pPr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Seleção pela média na validação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31C99-DD89-4891-B098-D6C1BF7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Avaliação final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AD85B-3EE4-4197-B1BA-9D3B0DCC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5 novos treinos por algoritmo</a:t>
            </a:r>
          </a:p>
          <a:p xmlns:a="http://schemas.openxmlformats.org/drawingml/2006/main">
            <a:pPr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100 episódios de teste por modelo</a:t>
            </a:r>
          </a:p>
          <a:p xmlns:a="http://schemas.openxmlformats.org/drawingml/2006/main">
            <a:pPr>
              <a:defRPr sz="195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Referências: regra simples e ações aleatórias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BEC53-0AF3-4C90-925D-FA2122DD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00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654B"/>
                </a:solidFill>
                <a:latin typeface="Arial"/>
                <a:ea typeface="Arial"/>
                <a:cs typeface="Arial"/>
              </a:rPr>
              <a:t>Treino final: 307.200 interações por modelo</a:t>
            </a:r>
          </a:p>
        </p:txBody>
      </p:sp>
    </p:spTree>
    <p:extLst>
      <p:ext uri="{BB962C8B-B14F-4D97-AF65-F5344CB8AC3E}">
        <p14:creationId xmlns:p14="http://schemas.microsoft.com/office/powerpoint/2010/main" val="1202108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D9B2E-14A6-46A9-A308-2DF5BF1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PPO teve o maior retorno médio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637F0-EAFB-4D2D-A390-4D9A7E1D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1381125"/>
          <a:ext xmlns:a="http://schemas.openxmlformats.org/drawingml/2006/main" cx="7620000" cy="4219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479fe302e54fb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AF3B8-1296-4F7D-A225-9D585124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94,2%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4BE36-CF23-4AA0-A52E-E5C14024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sucesso do PPO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43A06-7FC8-45F2-A835-31E4B9FE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E654B"/>
                </a:solidFill>
                <a:latin typeface="Arial"/>
                <a:ea typeface="Arial"/>
                <a:cs typeface="Arial"/>
              </a:rPr>
              <a:t>16,2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AF2A9-2222-484E-81CB-26257BC3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5302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unidades de água</a:t>
            </a:r>
          </a:p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por episódio</a:t>
            </a:r>
          </a:p>
        </p:txBody>
      </p:sp>
    </p:spTree>
    <p:extLst>
      <p:ext uri="{BB962C8B-B14F-4D97-AF65-F5344CB8AC3E}">
        <p14:creationId xmlns:p14="http://schemas.microsoft.com/office/powerpoint/2010/main" val="566740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D1B3B-9BBA-41C7-ADA4-36D2FCA3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Conclusão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95840-4E58-43E4-8527-973F6396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A0FD5-E20F-420A-A62E-A37F1354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38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O MDP permitiu comparar decisões de irrigação</a:t>
            </a:r>
          </a:p>
          <a:p xmlns:a="http://schemas.openxmlformats.org/drawingml/2006/main">
            <a:pPr>
              <a:defRPr sz="270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com o mesmo orçamento de treino e teste.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6B471-B67E-44E7-9DBB-652482DA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E65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E654B"/>
                </a:solidFill>
                <a:latin typeface="Arial"/>
                <a:ea typeface="Arial"/>
                <a:cs typeface="Arial"/>
              </a:rPr>
              <a:t>Limitação: regras sintéticas, sem sensores reais.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BC1F8-133C-4C0C-8140-C8DF3450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62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961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96159"/>
                </a:solidFill>
                <a:latin typeface="Arial"/>
                <a:ea typeface="Arial"/>
                <a:cs typeface="Arial"/>
              </a:rPr>
              <a:t>Próximos passos: ruído nos sensores e mais cenários de clima.</a:t>
            </a:r>
          </a:p>
        </p:txBody>
      </p:sp>
    </p:spTree>
    <p:extLst>
      <p:ext uri="{BB962C8B-B14F-4D97-AF65-F5344CB8AC3E}">
        <p14:creationId xmlns:p14="http://schemas.microsoft.com/office/powerpoint/2010/main" val="2049560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2026-09-27T23:51:52.9670000Z</dcterms:created>
  <dcterms:modified xsi:type="dcterms:W3CDTF">2026-09-27T23:51:52.9670000Z</dcterms:modified>
</coreProperties>
</file>